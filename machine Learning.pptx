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8" r:id="rId6"/>
    <p:sldId id="272" r:id="rId7"/>
    <p:sldId id="267" r:id="rId8"/>
    <p:sldId id="269" r:id="rId9"/>
    <p:sldId id="270" r:id="rId10"/>
    <p:sldId id="259" r:id="rId11"/>
    <p:sldId id="261" r:id="rId12"/>
    <p:sldId id="262" r:id="rId13"/>
    <p:sldId id="263" r:id="rId14"/>
    <p:sldId id="271" r:id="rId15"/>
    <p:sldId id="265" r:id="rId16"/>
    <p:sldId id="273" r:id="rId17"/>
    <p:sldId id="274" r:id="rId18"/>
    <p:sldId id="275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1/3/2024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1/3/2024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wooden-tile/t/thank-you.htm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6749" y="381000"/>
            <a:ext cx="8735325" cy="1784349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Machine learning project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98612" y="2926964"/>
            <a:ext cx="8735325" cy="24070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Moamen Ashour        42010600</a:t>
            </a:r>
          </a:p>
          <a:p>
            <a:r>
              <a:rPr lang="en-US" dirty="0"/>
              <a:t>Ahmed Khaled            42010387</a:t>
            </a:r>
          </a:p>
          <a:p>
            <a:r>
              <a:rPr lang="en-US" dirty="0"/>
              <a:t>Ahmed Irfan               42010718</a:t>
            </a:r>
          </a:p>
          <a:p>
            <a:r>
              <a:rPr lang="en-US" dirty="0"/>
              <a:t>Mohamed </a:t>
            </a:r>
            <a:r>
              <a:rPr lang="en-US" dirty="0" err="1"/>
              <a:t>amjad</a:t>
            </a:r>
            <a:r>
              <a:rPr lang="en-US" dirty="0"/>
              <a:t>        42010719</a:t>
            </a:r>
          </a:p>
          <a:p>
            <a:r>
              <a:rPr lang="en-US" dirty="0"/>
              <a:t>Kamel </a:t>
            </a:r>
            <a:r>
              <a:rPr lang="en-US" dirty="0" err="1"/>
              <a:t>moustafa</a:t>
            </a:r>
            <a:r>
              <a:rPr lang="en-US" dirty="0"/>
              <a:t>        42010191</a:t>
            </a:r>
          </a:p>
          <a:p>
            <a:r>
              <a:rPr lang="en-US" dirty="0"/>
              <a:t>Mostafa Mohamed    42010410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CF7D-CB07-F8C9-14E8-C6D9709D6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381000"/>
            <a:ext cx="10360501" cy="5783069"/>
          </a:xfrm>
        </p:spPr>
        <p:txBody>
          <a:bodyPr/>
          <a:lstStyle/>
          <a:p>
            <a:pPr marL="0" indent="0">
              <a:buNone/>
            </a:pPr>
            <a:br>
              <a:rPr lang="en-US" sz="1800" kern="100" dirty="0">
                <a:effectLst/>
                <a:latin typeface="Calibri (Headings)"/>
                <a:ea typeface="宋体" panose="02010600030101010101" pitchFamily="2" charset="-122"/>
              </a:rPr>
            </a:br>
            <a:r>
              <a:rPr lang="en-US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宋体" panose="02010600030101010101" pitchFamily="2" charset="-122"/>
              </a:rPr>
              <a:t>1-</a:t>
            </a:r>
            <a:r>
              <a:rPr lang="en-US" u="sng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Supervised Learning Regression </a:t>
            </a:r>
            <a:endParaRPr lang="en-US" u="sng" kern="100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kern="1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2- </a:t>
            </a:r>
            <a:r>
              <a:rPr lang="en-US" u="sng" kern="1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Supervised Learning Classification</a:t>
            </a:r>
            <a:endParaRPr lang="en-US" u="sng" kern="100" dirty="0">
              <a:solidFill>
                <a:schemeClr val="bg2">
                  <a:lumMod val="40000"/>
                  <a:lumOff val="60000"/>
                </a:schemeClr>
              </a:solidFill>
              <a:effectLst/>
              <a:latin typeface="Calibri (Headings)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3- 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Supervised Learning Classification </a:t>
            </a:r>
            <a:r>
              <a:rPr lang="ar-EG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)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Image</a:t>
            </a:r>
            <a:r>
              <a:rPr lang="ar-EG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(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Cambria" panose="02040503050406030204" pitchFamily="18" charset="0"/>
              </a:rPr>
              <a:t>4- 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Cambria" panose="02040503050406030204" pitchFamily="18" charset="0"/>
              </a:rPr>
              <a:t>Unsupervised Learning</a:t>
            </a:r>
            <a:r>
              <a:rPr lang="en-US" u="sng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kern="100" dirty="0">
              <a:solidFill>
                <a:schemeClr val="bg2">
                  <a:lumMod val="40000"/>
                  <a:lumOff val="60000"/>
                </a:schemeClr>
              </a:solidFill>
              <a:effectLst/>
              <a:latin typeface="Calibri (Headings)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CF7D-CB07-F8C9-14E8-C6D9709D6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381000"/>
            <a:ext cx="10360501" cy="6096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宋体" panose="02010600030101010101" pitchFamily="2" charset="-122"/>
              </a:rPr>
              <a:t>Introduction</a:t>
            </a:r>
            <a:br>
              <a:rPr lang="en-US" sz="1800" kern="100" dirty="0">
                <a:effectLst/>
                <a:latin typeface="Calibri (Headings)"/>
                <a:ea typeface="宋体" panose="02010600030101010101" pitchFamily="2" charset="-122"/>
              </a:rPr>
            </a:br>
            <a:endParaRPr lang="en-US" sz="1800" kern="100" dirty="0">
              <a:effectLst/>
              <a:latin typeface="Calibri (Headings)"/>
              <a:ea typeface="宋体" panose="02010600030101010101" pitchFamily="2" charset="-122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The aim of this analysis is to explore the performance of various machine learning models in predicting the 'Class' variable based on the provided dataset.</a:t>
            </a:r>
          </a:p>
          <a:p>
            <a:r>
              <a:rPr lang="en-US" sz="1800" kern="100" dirty="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Understand how different algorithms handle the given features and contribute to </a:t>
            </a:r>
            <a:r>
              <a:rPr lang="en-US" sz="1800" u="sng" kern="100" dirty="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en-US" sz="18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Supervised Learning Regression </a:t>
            </a:r>
            <a:r>
              <a:rPr lang="en-US" sz="1800" u="sng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</a:rPr>
              <a:t>Supervised Learning Classification Problem ,</a:t>
            </a:r>
            <a:r>
              <a:rPr lang="en-US" sz="1800" u="sng" kern="100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  <a:cs typeface="Arial" panose="020B0604020202020204" pitchFamily="34" charset="0"/>
              </a:rPr>
              <a:t> </a:t>
            </a:r>
            <a:r>
              <a:rPr lang="en-US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</a:rPr>
              <a:t>Supervised Learning Classification Problem </a:t>
            </a:r>
            <a:r>
              <a:rPr lang="ar-EG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</a:rPr>
              <a:t>)</a:t>
            </a:r>
            <a:r>
              <a:rPr lang="en-US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</a:rPr>
              <a:t>Image</a:t>
            </a:r>
            <a:r>
              <a:rPr lang="ar-EG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</a:rPr>
              <a:t>(</a:t>
            </a:r>
            <a:r>
              <a:rPr lang="en-US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</a:rPr>
              <a:t> and </a:t>
            </a:r>
            <a:r>
              <a:rPr lang="en-US" sz="1800" u="sng" dirty="0">
                <a:solidFill>
                  <a:schemeClr val="tx1">
                    <a:lumMod val="95000"/>
                  </a:schemeClr>
                </a:solidFill>
                <a:effectLst/>
                <a:latin typeface="Calibri (Headings)"/>
                <a:ea typeface="Cambria" panose="02040503050406030204" pitchFamily="18" charset="0"/>
              </a:rPr>
              <a:t>Unsupervised Learning </a:t>
            </a:r>
            <a:r>
              <a:rPr lang="en-US" sz="1800" u="sng" kern="100" dirty="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task.</a:t>
            </a:r>
          </a:p>
          <a:p>
            <a:pPr marL="0" indent="0" algn="ctr">
              <a:buNone/>
            </a:pPr>
            <a:r>
              <a:rPr lang="en-US" sz="1800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宋体" panose="02010600030101010101" pitchFamily="2" charset="-122"/>
              </a:rPr>
              <a:t>1-</a:t>
            </a:r>
            <a:r>
              <a:rPr lang="en-US" sz="1800" u="sng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Supervised Learning Regression</a:t>
            </a:r>
          </a:p>
          <a:p>
            <a:pPr marL="0" indent="0">
              <a:buNone/>
            </a:pPr>
            <a:r>
              <a:rPr lang="en-US" sz="18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Datasets Used:</a:t>
            </a: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 (Ambient Temperature): The temperature of the surrounding air.</a:t>
            </a:r>
            <a:endParaRPr lang="en-US" sz="1800" kern="1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 (Exhaust Vacuum): The exhaust vacuum pressure.</a:t>
            </a:r>
            <a:endParaRPr lang="en-US" sz="1800" kern="1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 (Ambient Pressure): The atmospheric pressure in the surroundings.</a:t>
            </a:r>
            <a:endParaRPr lang="en-US" sz="1800" kern="1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RH (Relative Humidity): The relative humidity of the air.</a:t>
            </a:r>
            <a:endParaRPr lang="en-US" sz="1800" kern="1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6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 (Net Energy Output): The net energy output of the power plant.</a:t>
            </a:r>
            <a:endParaRPr lang="en-US" sz="1800" kern="1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02296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0040A-8284-B5DE-A6A5-698C85018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381000"/>
            <a:ext cx="10360501" cy="5783069"/>
          </a:xfrm>
        </p:spPr>
        <p:txBody>
          <a:bodyPr/>
          <a:lstStyle/>
          <a:p>
            <a:r>
              <a:rPr lang="en-US" sz="2400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Data Exploration and Data Preprocessing</a:t>
            </a:r>
          </a:p>
          <a:p>
            <a:pPr marL="0" indent="0">
              <a:buNone/>
            </a:pPr>
            <a:endParaRPr lang="en-US" sz="14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b="1" kern="1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after remove duplicates and Handling Missing Values.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3917B-A8E4-ADCC-7C85-F5C050FED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5" t="19051" b="9483"/>
          <a:stretch>
            <a:fillRect/>
          </a:stretch>
        </p:blipFill>
        <p:spPr>
          <a:xfrm>
            <a:off x="7361787" y="2667000"/>
            <a:ext cx="4574408" cy="24104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606162-4C0B-3F96-E522-B2BB936543E0}"/>
              </a:ext>
            </a:extLst>
          </p:cNvPr>
          <p:cNvSpPr txBox="1"/>
          <p:nvPr/>
        </p:nvSpPr>
        <p:spPr>
          <a:xfrm>
            <a:off x="7587404" y="1981200"/>
            <a:ext cx="396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presented the introduction to the data 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513BE6-9123-F141-83F3-DA36D2BC6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5212" y="2667000"/>
            <a:ext cx="5601492" cy="24104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40FEEB2-D43C-EFB2-2594-DBC5854EE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4" b="6938"/>
          <a:stretch>
            <a:fillRect/>
          </a:stretch>
        </p:blipFill>
        <p:spPr>
          <a:xfrm>
            <a:off x="3351529" y="1153795"/>
            <a:ext cx="5485765" cy="2770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6A99EE-F52C-1FD0-19AC-70867929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6" b="9173"/>
          <a:stretch>
            <a:fillRect/>
          </a:stretch>
        </p:blipFill>
        <p:spPr>
          <a:xfrm>
            <a:off x="6475412" y="3962401"/>
            <a:ext cx="5485130" cy="2639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4FCC68-0C29-E7B4-7C1A-6EE77E3FE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 b="6488"/>
          <a:stretch>
            <a:fillRect/>
          </a:stretch>
        </p:blipFill>
        <p:spPr>
          <a:xfrm>
            <a:off x="379412" y="3962400"/>
            <a:ext cx="5485765" cy="26390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0EA5BE-D2B6-28F9-F71E-07780B68DAF5}"/>
              </a:ext>
            </a:extLst>
          </p:cNvPr>
          <p:cNvSpPr txBox="1"/>
          <p:nvPr/>
        </p:nvSpPr>
        <p:spPr>
          <a:xfrm>
            <a:off x="4265611" y="369746"/>
            <a:ext cx="3657600" cy="52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 Visualization</a:t>
            </a:r>
            <a:r>
              <a:rPr lang="en-US" sz="1800" b="1" kern="100" dirty="0">
                <a:solidFill>
                  <a:srgbClr val="2F5496"/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84CB23-3612-90FB-7D17-3ABF115EC11F}"/>
              </a:ext>
            </a:extLst>
          </p:cNvPr>
          <p:cNvSpPr txBox="1"/>
          <p:nvPr/>
        </p:nvSpPr>
        <p:spPr>
          <a:xfrm>
            <a:off x="1522412" y="457200"/>
            <a:ext cx="89916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Machine Learning Models</a:t>
            </a:r>
          </a:p>
          <a:p>
            <a:endParaRPr lang="en-US" b="1" kern="100" dirty="0">
              <a:solidFill>
                <a:schemeClr val="accent1">
                  <a:lumMod val="60000"/>
                  <a:lumOff val="40000"/>
                </a:schemeClr>
              </a:solidFill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en-US" sz="18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Random forest()</a:t>
            </a:r>
          </a:p>
          <a:p>
            <a:endParaRPr lang="en-US" sz="1800" b="1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2-</a:t>
            </a:r>
            <a:r>
              <a:rPr lang="en-US" sz="18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Gradient boosting()</a:t>
            </a:r>
          </a:p>
          <a:p>
            <a:endParaRPr lang="en-US" sz="1800" b="1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3-</a:t>
            </a:r>
            <a:r>
              <a:rPr lang="en-US" sz="18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SVC()</a:t>
            </a:r>
          </a:p>
          <a:p>
            <a:endParaRPr lang="en-US" b="1" kern="100" dirty="0">
              <a:solidFill>
                <a:schemeClr val="accent1">
                  <a:lumMod val="60000"/>
                  <a:lumOff val="40000"/>
                </a:schemeClr>
              </a:solidFill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4- Linear regression()</a:t>
            </a:r>
          </a:p>
          <a:p>
            <a:endParaRPr lang="en-US" b="1" kern="100" dirty="0">
              <a:solidFill>
                <a:schemeClr val="accent1">
                  <a:lumMod val="60000"/>
                  <a:lumOff val="40000"/>
                </a:schemeClr>
              </a:solidFill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5-</a:t>
            </a:r>
            <a:r>
              <a:rPr lang="en-US" sz="18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Lasso()</a:t>
            </a:r>
          </a:p>
          <a:p>
            <a:endParaRPr lang="en-US" sz="1800" b="1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6-</a:t>
            </a:r>
            <a:r>
              <a:rPr lang="en-US" sz="18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 Ridge ()</a:t>
            </a:r>
          </a:p>
          <a:p>
            <a:endParaRPr lang="en-US" b="1" kern="100" dirty="0">
              <a:solidFill>
                <a:schemeClr val="bg2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141412" y="685800"/>
            <a:ext cx="10210800" cy="5943600"/>
          </a:xfrm>
        </p:spPr>
        <p:txBody>
          <a:bodyPr/>
          <a:lstStyle/>
          <a:p>
            <a:pPr algn="ctr"/>
            <a:r>
              <a:rPr lang="en-US" sz="1800" kern="100" dirty="0">
                <a:solidFill>
                  <a:srgbClr val="839DD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2- </a:t>
            </a:r>
            <a:r>
              <a:rPr lang="en-US" sz="1800" u="sng" kern="100" dirty="0">
                <a:solidFill>
                  <a:srgbClr val="839DD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u="sng" kern="1200" dirty="0">
                <a:solidFill>
                  <a:srgbClr val="839D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Supervised Learning Classification</a:t>
            </a:r>
          </a:p>
          <a:p>
            <a:endParaRPr lang="en-US" sz="1800" u="sng" dirty="0">
              <a:solidFill>
                <a:srgbClr val="839D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 Exploration and Data Preprocessing: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83F176-22D7-1E79-0C69-18CBEE60B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2" y="2499360"/>
            <a:ext cx="5045710" cy="28194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F131671-759E-E784-3D42-173B39005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12" y="2545080"/>
            <a:ext cx="5455920" cy="2727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729662-C1FE-3D53-6C66-6CE8B37C92BD}"/>
              </a:ext>
            </a:extLst>
          </p:cNvPr>
          <p:cNvSpPr txBox="1"/>
          <p:nvPr/>
        </p:nvSpPr>
        <p:spPr>
          <a:xfrm>
            <a:off x="1293812" y="1937541"/>
            <a:ext cx="4419600" cy="60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Data after remove duplicates and Handling Missing Values.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C8140-1553-E59E-5EFF-21685289AC27}"/>
              </a:ext>
            </a:extLst>
          </p:cNvPr>
          <p:cNvSpPr txBox="1"/>
          <p:nvPr/>
        </p:nvSpPr>
        <p:spPr>
          <a:xfrm>
            <a:off x="7237412" y="1937541"/>
            <a:ext cx="396240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presented the introduction to the data set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74F9CC-1B43-2A42-595A-5A5BA41F390D}"/>
              </a:ext>
            </a:extLst>
          </p:cNvPr>
          <p:cNvSpPr txBox="1"/>
          <p:nvPr/>
        </p:nvSpPr>
        <p:spPr>
          <a:xfrm>
            <a:off x="4799012" y="457200"/>
            <a:ext cx="297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 Visualization</a:t>
            </a:r>
          </a:p>
          <a:p>
            <a:endParaRPr lang="en-US" sz="2800" dirty="0"/>
          </a:p>
        </p:txBody>
      </p:sp>
      <p:pic>
        <p:nvPicPr>
          <p:cNvPr id="5" name="Picture 4" descr="A graph of a distribution of gender&#10;&#10;Description automatically generated">
            <a:extLst>
              <a:ext uri="{FF2B5EF4-FFF2-40B4-BE49-F238E27FC236}">
                <a16:creationId xmlns:a16="http://schemas.microsoft.com/office/drawing/2014/main" id="{12A6121D-A9AC-8992-1E8E-CC8B6C554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612" y="1296865"/>
            <a:ext cx="5045710" cy="2360735"/>
          </a:xfrm>
          <a:prstGeom prst="rect">
            <a:avLst/>
          </a:prstGeom>
        </p:spPr>
      </p:pic>
      <p:pic>
        <p:nvPicPr>
          <p:cNvPr id="6" name="Picture 5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CFBE6023-FF40-0BDE-092A-4F12E7788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1296865"/>
            <a:ext cx="5562599" cy="2360736"/>
          </a:xfrm>
          <a:prstGeom prst="rect">
            <a:avLst/>
          </a:prstGeom>
        </p:spPr>
      </p:pic>
      <p:pic>
        <p:nvPicPr>
          <p:cNvPr id="12" name="Picture 11" descr="A graph of a distribution of educational stage&#10;&#10;Description automatically generated">
            <a:extLst>
              <a:ext uri="{FF2B5EF4-FFF2-40B4-BE49-F238E27FC236}">
                <a16:creationId xmlns:a16="http://schemas.microsoft.com/office/drawing/2014/main" id="{25945F1E-ED4F-7C8A-9B53-0C131FB99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57" y="3810000"/>
            <a:ext cx="573151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D4AEE0-5673-E100-9866-02C5F4CB1035}"/>
              </a:ext>
            </a:extLst>
          </p:cNvPr>
          <p:cNvSpPr txBox="1"/>
          <p:nvPr/>
        </p:nvSpPr>
        <p:spPr>
          <a:xfrm>
            <a:off x="1370012" y="381000"/>
            <a:ext cx="101346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Machine Learning Models:</a:t>
            </a:r>
          </a:p>
          <a:p>
            <a:endParaRPr lang="en-US" b="1" kern="100" dirty="0">
              <a:solidFill>
                <a:schemeClr val="bg2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en-US" sz="1800" b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LogisticRegression</a:t>
            </a:r>
          </a:p>
          <a:p>
            <a:endParaRPr lang="en-US" sz="1800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2-</a:t>
            </a:r>
            <a:r>
              <a:rPr lang="en-US" sz="1800" b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DecisionTreeClassifier</a:t>
            </a:r>
          </a:p>
          <a:p>
            <a:endParaRPr lang="en-US" sz="1800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3-</a:t>
            </a:r>
            <a:r>
              <a:rPr lang="en-US" sz="1800" b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KNeighborsClassifier()</a:t>
            </a:r>
          </a:p>
          <a:p>
            <a:endParaRPr lang="en-US" sz="1800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4-</a:t>
            </a:r>
            <a:r>
              <a:rPr lang="en-US" sz="1800" b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GradientBoostingClassifier</a:t>
            </a:r>
          </a:p>
          <a:p>
            <a:endParaRPr lang="en-US" sz="1800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5-</a:t>
            </a:r>
            <a:r>
              <a:rPr lang="en-US" sz="1800" b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RandomForestClassifier()</a:t>
            </a:r>
          </a:p>
          <a:p>
            <a:endParaRPr lang="en-US" sz="1800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b="1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6-</a:t>
            </a:r>
            <a:r>
              <a:rPr lang="en-US" sz="1800" b="1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等线 Light" panose="02010600030101010101" pitchFamily="2" charset="-122"/>
                <a:cs typeface="Times New Roman" panose="02020603050405020304" pitchFamily="18" charset="0"/>
              </a:rPr>
              <a:t>SVC()</a:t>
            </a:r>
          </a:p>
          <a:p>
            <a:endParaRPr lang="en-US" b="1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 Light" panose="020F0302020204030204" pitchFamily="34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EE61B-BA4C-365D-DBD9-FAE1B19F79B9}"/>
              </a:ext>
            </a:extLst>
          </p:cNvPr>
          <p:cNvSpPr txBox="1"/>
          <p:nvPr/>
        </p:nvSpPr>
        <p:spPr>
          <a:xfrm>
            <a:off x="3122612" y="533400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3- 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Supervised Learning Classification </a:t>
            </a:r>
            <a:r>
              <a:rPr lang="ar-EG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)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Image</a:t>
            </a:r>
            <a:r>
              <a:rPr lang="ar-EG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(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D196D-26B6-052D-B324-FC551C987DDA}"/>
              </a:ext>
            </a:extLst>
          </p:cNvPr>
          <p:cNvSpPr txBox="1"/>
          <p:nvPr/>
        </p:nvSpPr>
        <p:spPr>
          <a:xfrm>
            <a:off x="1065212" y="1295399"/>
            <a:ext cx="8067125" cy="3432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3200" b="1" kern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Overview:</a:t>
            </a:r>
            <a:endParaRPr lang="en-US" sz="2000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500"/>
              </a:spcAft>
            </a:pPr>
            <a:r>
              <a:rPr lang="en-US" sz="24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provided code defines a Convolutional Neural Network (CNN) using the TensorFlow and </a:t>
            </a:r>
            <a:r>
              <a:rPr lang="en-US" sz="2400" kern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24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libraries. The network is designed for image classification, specifically for identifying animals. The training is conducted using a training dataset (</a:t>
            </a:r>
            <a:r>
              <a:rPr lang="en-US" sz="1800" b="1" kern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data_train</a:t>
            </a:r>
            <a:r>
              <a:rPr lang="en-US" sz="24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a validation dataset (</a:t>
            </a: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 </a:t>
            </a:r>
            <a:r>
              <a:rPr lang="en-US" sz="1800" b="1" kern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sz="24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After training, the model is used to predict the animal in a new image specified by the URL.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058B88-558D-AAEA-7C1C-802F3867F349}"/>
              </a:ext>
            </a:extLst>
          </p:cNvPr>
          <p:cNvSpPr txBox="1"/>
          <p:nvPr/>
        </p:nvSpPr>
        <p:spPr>
          <a:xfrm>
            <a:off x="912812" y="533400"/>
            <a:ext cx="6106886" cy="1450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500"/>
              </a:spcAft>
            </a:pPr>
            <a:r>
              <a:rPr lang="en-US" sz="2400" b="1" kern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set:</a:t>
            </a:r>
            <a:endParaRPr lang="en-US" sz="2000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500"/>
              </a:spcAft>
            </a:pPr>
            <a:r>
              <a:rPr lang="en-US" sz="24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dataset what contains a lot of images of dogs and cats.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1E0A2-C1AA-240B-D190-465712E9108A}"/>
              </a:ext>
            </a:extLst>
          </p:cNvPr>
          <p:cNvSpPr txBox="1"/>
          <p:nvPr/>
        </p:nvSpPr>
        <p:spPr>
          <a:xfrm>
            <a:off x="903448" y="2362200"/>
            <a:ext cx="6970000" cy="3470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2400" b="1" kern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Architecture of the Model:</a:t>
            </a: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endParaRPr lang="en-US" sz="1600" b="1" kern="1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Preprocessing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Layer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Flatten Layer: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 Layer: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Layers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endParaRPr lang="en-US" b="1" kern="0" dirty="0">
              <a:solidFill>
                <a:schemeClr val="accent1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E8E4C8B-06A9-68FD-D644-CBA93C9CD815}"/>
              </a:ext>
            </a:extLst>
          </p:cNvPr>
          <p:cNvSpPr txBox="1"/>
          <p:nvPr/>
        </p:nvSpPr>
        <p:spPr>
          <a:xfrm>
            <a:off x="989012" y="381000"/>
            <a:ext cx="10439400" cy="2313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3200" b="1" kern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Image Prediction</a:t>
            </a:r>
          </a:p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endParaRPr lang="en-US" sz="2000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code includes a function </a:t>
            </a:r>
            <a:r>
              <a:rPr lang="en-US" sz="1800" b="1" kern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batchImg</a:t>
            </a: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takes a URL, downloads an image, and processes it to be compatible with the model.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</a:t>
            </a: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 uses the trained model to predict the animal in the provided image and prints the predicted animal along with its confidence score.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E1A6D6-FFF8-B756-0B0F-8E86BD0E8B4D}"/>
              </a:ext>
            </a:extLst>
          </p:cNvPr>
          <p:cNvSpPr txBox="1"/>
          <p:nvPr/>
        </p:nvSpPr>
        <p:spPr>
          <a:xfrm>
            <a:off x="989012" y="304800"/>
            <a:ext cx="10668000" cy="51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3200" b="1" kern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Suggested Improvements</a:t>
            </a:r>
            <a:endParaRPr lang="en-US" sz="3200" kern="1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model on a test dataset to assess its generalization performance.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with different hyperparameter values such as learning rate, dropout rate, and number of units in the dense layers to optimize model performance.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more comprehensive error handling, especially when handling image URLs and during the training phase.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Documentation: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comments in the code to explain complex sections or rationale behind certain design choices.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Saving: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the trained model after training to avoid retraining every time the script is run.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7000"/>
              </a:lnSpc>
              <a:buFont typeface="Times New Roman" panose="02020603050405020304" pitchFamily="18" charset="0"/>
              <a:buAutoNum type="arabicPeriod"/>
            </a:pPr>
            <a:r>
              <a:rPr lang="en-US" sz="1800" b="1" kern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Validation:</a:t>
            </a:r>
            <a:br>
              <a:rPr lang="en-US" sz="1800" b="1" kern="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Add checks to ensure that the input image size matches the expected input shape of the model.</a:t>
            </a:r>
            <a:endParaRPr lang="en-US" sz="1800" kern="1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</a:pPr>
            <a:endParaRPr lang="en-US" sz="1800" b="1" kern="0" dirty="0">
              <a:solidFill>
                <a:srgbClr val="37415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63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F294A8-9A26-6967-88C6-18D6484F3E5E}"/>
              </a:ext>
            </a:extLst>
          </p:cNvPr>
          <p:cNvSpPr txBox="1"/>
          <p:nvPr/>
        </p:nvSpPr>
        <p:spPr>
          <a:xfrm>
            <a:off x="4113212" y="381000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Cambria" panose="02040503050406030204" pitchFamily="18" charset="0"/>
              </a:rPr>
              <a:t>4- </a:t>
            </a:r>
            <a:r>
              <a:rPr lang="en-US" u="sng" dirty="0"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Calibri (Headings)"/>
                <a:ea typeface="Cambria" panose="02040503050406030204" pitchFamily="18" charset="0"/>
              </a:rPr>
              <a:t>Unsupervised Learning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F3631-49A2-DFA3-AF7A-538DA8F25812}"/>
              </a:ext>
            </a:extLst>
          </p:cNvPr>
          <p:cNvSpPr txBox="1"/>
          <p:nvPr/>
        </p:nvSpPr>
        <p:spPr>
          <a:xfrm>
            <a:off x="989012" y="1752600"/>
            <a:ext cx="10820400" cy="3205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Purpose of Analysis: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</a:pPr>
            <a:endParaRPr lang="en-US" sz="1800" b="1" dirty="0">
              <a:solidFill>
                <a:srgbClr val="37415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Explore Market Trends:</a:t>
            </a:r>
            <a:r>
              <a:rPr lang="en-US" sz="180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Understand the temporal characteristics and trends in Bitcoin market data.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Identify Clustering Patterns:</a:t>
            </a:r>
            <a:r>
              <a:rPr lang="en-US" sz="180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Apply clustering algorithms to identify distinct patterns within the dataset.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Time Series Prediction:</a:t>
            </a:r>
            <a:r>
              <a:rPr lang="en-US" sz="180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Develop predictive models to forecast future Bitcoin prices.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Evaluate Model Performance:</a:t>
            </a:r>
            <a:r>
              <a:rPr lang="en-US" sz="180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Assess the performance of clustering and prediction models.</a:t>
            </a:r>
            <a:endParaRPr lang="en-US" sz="1800" dirty="0">
              <a:effectLst/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068665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message on a wood stand&#10;&#10;Description automatically generated">
            <a:extLst>
              <a:ext uri="{FF2B5EF4-FFF2-40B4-BE49-F238E27FC236}">
                <a16:creationId xmlns:a16="http://schemas.microsoft.com/office/drawing/2014/main" id="{26494ED4-C127-3C97-044C-06112E5969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325" b="5384"/>
          <a:stretch/>
        </p:blipFill>
        <p:spPr>
          <a:xfrm>
            <a:off x="20" y="0"/>
            <a:ext cx="12188805" cy="685799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F5C939-564D-56FD-8F2F-360B970608B1}"/>
              </a:ext>
            </a:extLst>
          </p:cNvPr>
          <p:cNvSpPr txBox="1"/>
          <p:nvPr/>
        </p:nvSpPr>
        <p:spPr>
          <a:xfrm>
            <a:off x="8228012" y="3429000"/>
            <a:ext cx="335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DR:ALI HAMZA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ENG:AHMED NOUSIR</a:t>
            </a:r>
          </a:p>
        </p:txBody>
      </p:sp>
    </p:spTree>
    <p:extLst>
      <p:ext uri="{BB962C8B-B14F-4D97-AF65-F5344CB8AC3E}">
        <p14:creationId xmlns:p14="http://schemas.microsoft.com/office/powerpoint/2010/main" val="3503729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542f720-6ca7-496c-836d-7f20d2fb18d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4A2341A07ECB45A68E1F6A90A05699" ma:contentTypeVersion="16" ma:contentTypeDescription="Create a new document." ma:contentTypeScope="" ma:versionID="57e27bfaff8e7ef87d56d67d577f1029">
  <xsd:schema xmlns:xsd="http://www.w3.org/2001/XMLSchema" xmlns:xs="http://www.w3.org/2001/XMLSchema" xmlns:p="http://schemas.microsoft.com/office/2006/metadata/properties" xmlns:ns3="6542f720-6ca7-496c-836d-7f20d2fb18db" xmlns:ns4="c910a672-6780-44a7-9d1f-503a901b62a9" targetNamespace="http://schemas.microsoft.com/office/2006/metadata/properties" ma:root="true" ma:fieldsID="7f0580680c16f1c70ddf587bbae7ea7e" ns3:_="" ns4:_="">
    <xsd:import namespace="6542f720-6ca7-496c-836d-7f20d2fb18db"/>
    <xsd:import namespace="c910a672-6780-44a7-9d1f-503a901b62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2f720-6ca7-496c-836d-7f20d2fb18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0a672-6780-44a7-9d1f-503a901b62a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6542f720-6ca7-496c-836d-7f20d2fb18db"/>
    <ds:schemaRef ds:uri="http://schemas.microsoft.com/office/infopath/2007/PartnerControls"/>
    <ds:schemaRef ds:uri="c910a672-6780-44a7-9d1f-503a901b62a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CF1D4BB-5D2C-4F6D-A44B-7AB029ADF3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42f720-6ca7-496c-836d-7f20d2fb18db"/>
    <ds:schemaRef ds:uri="c910a672-6780-44a7-9d1f-503a901b62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A0A99C-057C-42D4-8FBD-DA233A12E5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80</TotalTime>
  <Words>628</Words>
  <Application>Microsoft Office PowerPoint</Application>
  <PresentationFormat>Custom</PresentationFormat>
  <Paragraphs>102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(Headings)</vt:lpstr>
      <vt:lpstr>Calibri Light</vt:lpstr>
      <vt:lpstr>Segoe UI</vt:lpstr>
      <vt:lpstr>Symbol</vt:lpstr>
      <vt:lpstr>Times New Roman</vt:lpstr>
      <vt:lpstr>Tech 16x9</vt:lpstr>
      <vt:lpstr>Machine learning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project</dc:title>
  <dc:creator>Moamen Ashour Ahmed</dc:creator>
  <cp:lastModifiedBy>Moamen Ashour Ahmed</cp:lastModifiedBy>
  <cp:revision>3</cp:revision>
  <dcterms:created xsi:type="dcterms:W3CDTF">2024-01-03T13:27:24Z</dcterms:created>
  <dcterms:modified xsi:type="dcterms:W3CDTF">2024-01-03T14:47:47Z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0x010100CB4A2341A07ECB45A68E1F6A90A05699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